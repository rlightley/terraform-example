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4F8E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Terraform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6BD5B8"/>
                </a:solidFill>
                <a:latin typeface="Calibri"/>
              </a:rPr>
              <a:t>How PEngDo deploys and maintains customer infrastructure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20116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3397948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291840"/>
            <a:ext cx="9436608" cy="3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The drift problem — why per-customer Terraform becomes unmanageable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70179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595687"/>
            <a:ext cx="9436608" cy="3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The factory pattern — one codebase, many customers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005642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99534"/>
            <a:ext cx="9436608" cy="3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Versioning — pin each customer independently, upgrade on your terms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0948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203381"/>
            <a:ext cx="9436608" cy="3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Custom infra — extend without forking the factory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613336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507228"/>
            <a:ext cx="9436608" cy="3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Pipeline flow — security scan, plan, approval gate, apply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91718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811075"/>
            <a:ext cx="9436608" cy="303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Design decisions behind the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Per-customer Terraform creates a fleet of drifting snowflakes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520440" cy="521208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5204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  <a:latin typeface="Calibri"/>
              </a:rPr>
              <a:t>How it starts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943989"/>
            <a:ext cx="64008" cy="6400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Copy base Terraform for customer A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27580"/>
            <a:ext cx="64008" cy="6400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30679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Tweak SKUs, server count, region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511171"/>
            <a:ext cx="64008" cy="6400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414270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Copy again for customer B, C, D…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2794762"/>
            <a:ext cx="64008" cy="6400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697861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Each repo slowly diverges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078353"/>
            <a:ext cx="64008" cy="6400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981452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No shared version — just folders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234440"/>
            <a:ext cx="3977639" cy="521208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1234440"/>
            <a:ext cx="3977639" cy="502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500"/>
                </a:solidFill>
                <a:latin typeface="Calibri"/>
              </a:rPr>
              <a:t>What happens over time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0" y="1943989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1847088"/>
            <a:ext cx="34015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Security fix found — must apply to every customer manually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0" y="2227580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2130679"/>
            <a:ext cx="34015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New SKU added — some customers have it, some don't</a:t>
            </a:r>
          </a:p>
        </p:txBody>
      </p:sp>
      <p:sp>
        <p:nvSpPr>
          <p:cNvPr id="26" name="Oval 25"/>
          <p:cNvSpPr/>
          <p:nvPr/>
        </p:nvSpPr>
        <p:spPr>
          <a:xfrm>
            <a:off x="4297680" y="2511171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2414270"/>
            <a:ext cx="34015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Someone tweaks customer C in the portal — Terraform now out of sync</a:t>
            </a:r>
          </a:p>
        </p:txBody>
      </p:sp>
      <p:sp>
        <p:nvSpPr>
          <p:cNvPr id="28" name="Oval 27"/>
          <p:cNvSpPr/>
          <p:nvPr/>
        </p:nvSpPr>
        <p:spPr>
          <a:xfrm>
            <a:off x="4297680" y="2794762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2697861"/>
            <a:ext cx="34015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Terraform plan is now destructive — team stops running it</a:t>
            </a:r>
          </a:p>
        </p:txBody>
      </p:sp>
      <p:sp>
        <p:nvSpPr>
          <p:cNvPr id="30" name="Oval 29"/>
          <p:cNvSpPr/>
          <p:nvPr/>
        </p:nvSpPr>
        <p:spPr>
          <a:xfrm>
            <a:off x="4297680" y="3078353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2981452"/>
            <a:ext cx="34015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Infrastructure state is unknown</a:t>
            </a:r>
          </a:p>
        </p:txBody>
      </p:sp>
      <p:sp>
        <p:nvSpPr>
          <p:cNvPr id="32" name="Oval 31"/>
          <p:cNvSpPr/>
          <p:nvPr/>
        </p:nvSpPr>
        <p:spPr>
          <a:xfrm>
            <a:off x="4297680" y="3361944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265043"/>
            <a:ext cx="34015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New customer onboarding takes days, not 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1234440"/>
            <a:ext cx="3520440" cy="521208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75320" y="1234440"/>
            <a:ext cx="3520440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13898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D5B8"/>
                </a:solidFill>
                <a:latin typeface="Calibri"/>
              </a:rPr>
              <a:t>What we want instead</a:t>
            </a:r>
          </a:p>
        </p:txBody>
      </p:sp>
      <p:sp>
        <p:nvSpPr>
          <p:cNvPr id="37" name="Oval 36"/>
          <p:cNvSpPr/>
          <p:nvPr/>
        </p:nvSpPr>
        <p:spPr>
          <a:xfrm>
            <a:off x="8458200" y="194398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1847088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One place to fix a bug — all customers benefit</a:t>
            </a:r>
          </a:p>
        </p:txBody>
      </p:sp>
      <p:sp>
        <p:nvSpPr>
          <p:cNvPr id="39" name="Oval 38"/>
          <p:cNvSpPr/>
          <p:nvPr/>
        </p:nvSpPr>
        <p:spPr>
          <a:xfrm>
            <a:off x="8458200" y="2227580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2130679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Each customer pinned to a version — upgrade on our schedule</a:t>
            </a:r>
          </a:p>
        </p:txBody>
      </p:sp>
      <p:sp>
        <p:nvSpPr>
          <p:cNvPr id="41" name="Oval 40"/>
          <p:cNvSpPr/>
          <p:nvPr/>
        </p:nvSpPr>
        <p:spPr>
          <a:xfrm>
            <a:off x="8458200" y="2511171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22792" y="2414270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Portal changes prevented by pipeline-enforced apply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2794762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2697861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New customer onboarded in minutes with a config file</a:t>
            </a:r>
          </a:p>
        </p:txBody>
      </p:sp>
      <p:sp>
        <p:nvSpPr>
          <p:cNvPr id="45" name="Oval 44"/>
          <p:cNvSpPr/>
          <p:nvPr/>
        </p:nvSpPr>
        <p:spPr>
          <a:xfrm>
            <a:off x="8458200" y="3078353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22792" y="2981452"/>
            <a:ext cx="29443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Custom needs handled without touching the factory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How the Factory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One factory repo. One consumer repo per customer.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029200" cy="51206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029200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8EFF"/>
                </a:solidFill>
                <a:latin typeface="Calibri"/>
              </a:rPr>
              <a:t>terraform-factory  (you own this)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026221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38528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modules/landing-zone  — VNet, Key Vault, Log Analytics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28955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201862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modules/application   — App Service, SQL, App Insights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255288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465196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stages/               — root configs that call the modules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281622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728530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reusable-terraform.yml — the full pipeline, written once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079557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991864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versioning.yml        — auto-tags every merge to main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342891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255198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Checkov security scanning baked in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360622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518532"/>
            <a:ext cx="445312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All Azure best practices enforced 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280160"/>
            <a:ext cx="5212080" cy="51206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280160"/>
            <a:ext cx="5212080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14447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D5B8"/>
                </a:solidFill>
                <a:latin typeface="Calibri"/>
              </a:rPr>
              <a:t>customer-repo  (one per customer)</a:t>
            </a:r>
          </a:p>
        </p:txBody>
      </p:sp>
      <p:sp>
        <p:nvSpPr>
          <p:cNvPr id="26" name="Oval 25"/>
          <p:cNvSpPr/>
          <p:nvPr/>
        </p:nvSpPr>
        <p:spPr>
          <a:xfrm>
            <a:off x="6784848" y="2026221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938528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config.json  — workload, environment, SKUs, region</a:t>
            </a:r>
          </a:p>
        </p:txBody>
      </p:sp>
      <p:sp>
        <p:nvSpPr>
          <p:cNvPr id="28" name="Oval 27"/>
          <p:cNvSpPr/>
          <p:nvPr/>
        </p:nvSpPr>
        <p:spPr>
          <a:xfrm>
            <a:off x="6784848" y="2289555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201862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deploy.yml   — calls factory @v1.2.0  (one line)</a:t>
            </a:r>
          </a:p>
        </p:txBody>
      </p:sp>
      <p:sp>
        <p:nvSpPr>
          <p:cNvPr id="30" name="Oval 29"/>
          <p:cNvSpPr/>
          <p:nvPr/>
        </p:nvSpPr>
        <p:spPr>
          <a:xfrm>
            <a:off x="6784848" y="255288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465196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custom/      — optional extra .tf files for this customer</a:t>
            </a:r>
          </a:p>
        </p:txBody>
      </p:sp>
      <p:sp>
        <p:nvSpPr>
          <p:cNvPr id="32" name="Oval 31"/>
          <p:cNvSpPr/>
          <p:nvPr/>
        </p:nvSpPr>
        <p:spPr>
          <a:xfrm>
            <a:off x="6784848" y="2816223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728530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No Terraform code to maintain</a:t>
            </a:r>
          </a:p>
        </p:txBody>
      </p:sp>
      <p:sp>
        <p:nvSpPr>
          <p:cNvPr id="34" name="Oval 33"/>
          <p:cNvSpPr/>
          <p:nvPr/>
        </p:nvSpPr>
        <p:spPr>
          <a:xfrm>
            <a:off x="6784848" y="3079557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991864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No pipeline logic to write</a:t>
            </a:r>
          </a:p>
        </p:txBody>
      </p:sp>
      <p:sp>
        <p:nvSpPr>
          <p:cNvPr id="36" name="Oval 35"/>
          <p:cNvSpPr/>
          <p:nvPr/>
        </p:nvSpPr>
        <p:spPr>
          <a:xfrm>
            <a:off x="6784848" y="3342891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255198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No security decisions to make</a:t>
            </a:r>
          </a:p>
        </p:txBody>
      </p:sp>
      <p:sp>
        <p:nvSpPr>
          <p:cNvPr id="38" name="Oval 37"/>
          <p:cNvSpPr/>
          <p:nvPr/>
        </p:nvSpPr>
        <p:spPr>
          <a:xfrm>
            <a:off x="6784848" y="3606225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3518532"/>
            <a:ext cx="4498848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Upgrade = bump the @tag reference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8968" y="356616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96AA"/>
                </a:solidFill>
                <a:latin typeface="Calibri"/>
              </a:rPr>
              <a:t>calls factory
@v1.2.0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023360"/>
            <a:ext cx="109728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42432" y="4023360"/>
            <a:ext cx="109728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07024" y="4023360"/>
            <a:ext cx="109728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Managing a Fleet of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Each customer is pinned independently — upgrade on your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8EFF"/>
                </a:solidFill>
                <a:latin typeface="Calibri"/>
              </a:rPr>
              <a:t>terraform-factory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011680" cy="448056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828800" cy="713232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" cy="71323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D5B8"/>
                </a:solidFill>
                <a:latin typeface="Calibri"/>
              </a:rPr>
              <a:t>v1.3.0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D5B8"/>
                </a:solidFill>
                <a:latin typeface="Calibri"/>
              </a:rPr>
              <a:t>latest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59"/>
            <a:ext cx="1828800" cy="713232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80359"/>
            <a:ext cx="54864" cy="71323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8EFF"/>
                </a:solidFill>
                <a:latin typeface="Calibri"/>
              </a:rPr>
              <a:t>v1.2.0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86199"/>
            <a:ext cx="1828800" cy="713232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199"/>
            <a:ext cx="54864" cy="713232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5079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96AA"/>
                </a:solidFill>
                <a:latin typeface="Calibri"/>
              </a:rPr>
              <a:t>v1.1.0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92039"/>
            <a:ext cx="1828800" cy="713232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92039"/>
            <a:ext cx="54864" cy="713232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5663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96AA"/>
                </a:solidFill>
                <a:latin typeface="Calibri"/>
              </a:rPr>
              <a:t>v1.0.0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298448"/>
            <a:ext cx="1783080" cy="384048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1298448"/>
            <a:ext cx="1783080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13350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customer-alpha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1783080"/>
            <a:ext cx="1325880" cy="27432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7248" y="18105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D5B8"/>
                </a:solidFill>
                <a:latin typeface="Calibri"/>
              </a:rPr>
              <a:t>pinned to v1.3.0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148840"/>
            <a:ext cx="1783080" cy="35204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6080" y="2364485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0672" y="2286000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Landing zone + 3x App</a:t>
            </a:r>
          </a:p>
        </p:txBody>
      </p:sp>
      <p:sp>
        <p:nvSpPr>
          <p:cNvPr id="29" name="Oval 28"/>
          <p:cNvSpPr/>
          <p:nvPr/>
        </p:nvSpPr>
        <p:spPr>
          <a:xfrm>
            <a:off x="2926080" y="2607562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0672" y="2529077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P2v3 SKU · uksouth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18888" y="1298448"/>
            <a:ext cx="1783080" cy="384048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18888" y="1298448"/>
            <a:ext cx="1783080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0328" y="13350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customer-beta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47488" y="1783080"/>
            <a:ext cx="1325880" cy="27432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1496" y="18105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8EFF"/>
                </a:solidFill>
                <a:latin typeface="Calibri"/>
              </a:rPr>
              <a:t>pinned to v1.2.0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8888" y="2148840"/>
            <a:ext cx="1783080" cy="35204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10328" y="236448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2286000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Landing zone + 2x App</a:t>
            </a:r>
          </a:p>
        </p:txBody>
      </p:sp>
      <p:sp>
        <p:nvSpPr>
          <p:cNvPr id="39" name="Oval 38"/>
          <p:cNvSpPr/>
          <p:nvPr/>
        </p:nvSpPr>
        <p:spPr>
          <a:xfrm>
            <a:off x="4910328" y="2607562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2529077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S2 SKU · westeurope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03136" y="1298448"/>
            <a:ext cx="1783080" cy="384048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03136" y="1298448"/>
            <a:ext cx="1783080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4576" y="13350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customer-gamma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31736" y="1783080"/>
            <a:ext cx="1325880" cy="27432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95744" y="18105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F8EFF"/>
                </a:solidFill>
                <a:latin typeface="Calibri"/>
              </a:rPr>
              <a:t>pinned to v1.2.0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03136" y="2148840"/>
            <a:ext cx="1783080" cy="35204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94576" y="236448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9168" y="2286000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Landing zone only</a:t>
            </a:r>
          </a:p>
        </p:txBody>
      </p:sp>
      <p:sp>
        <p:nvSpPr>
          <p:cNvPr id="49" name="Oval 48"/>
          <p:cNvSpPr/>
          <p:nvPr/>
        </p:nvSpPr>
        <p:spPr>
          <a:xfrm>
            <a:off x="6894576" y="2607562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9168" y="2529077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B2 SKU · eastus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87384" y="1298448"/>
            <a:ext cx="1783080" cy="384048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87384" y="1298448"/>
            <a:ext cx="1783080" cy="50292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78824" y="13350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customer-delta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15984" y="1783080"/>
            <a:ext cx="1325880" cy="27432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79992" y="18105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896AA"/>
                </a:solidFill>
                <a:latin typeface="Calibri"/>
              </a:rPr>
              <a:t>pinned to v1.1.0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87384" y="2148840"/>
            <a:ext cx="1783080" cy="35204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78824" y="2364485"/>
            <a:ext cx="64008" cy="64008"/>
          </a:xfrm>
          <a:prstGeom prst="ellipse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43416" y="2286000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Landing zone + 1x App</a:t>
            </a:r>
          </a:p>
        </p:txBody>
      </p:sp>
      <p:sp>
        <p:nvSpPr>
          <p:cNvPr id="59" name="Oval 58"/>
          <p:cNvSpPr/>
          <p:nvPr/>
        </p:nvSpPr>
        <p:spPr>
          <a:xfrm>
            <a:off x="8878824" y="2607562"/>
            <a:ext cx="64008" cy="64008"/>
          </a:xfrm>
          <a:prstGeom prst="ellipse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43416" y="2529077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S1 SKU · uksouth</a:t>
            </a:r>
          </a:p>
        </p:txBody>
      </p:sp>
      <p:sp>
        <p:nvSpPr>
          <p:cNvPr id="61" name="Oval 60"/>
          <p:cNvSpPr/>
          <p:nvPr/>
        </p:nvSpPr>
        <p:spPr>
          <a:xfrm>
            <a:off x="8878824" y="2850639"/>
            <a:ext cx="64008" cy="64008"/>
          </a:xfrm>
          <a:prstGeom prst="ellipse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43416" y="2772154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+ custom VPN gateway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5760720"/>
            <a:ext cx="1783080" cy="320040"/>
          </a:xfrm>
          <a:prstGeom prst="rect">
            <a:avLst/>
          </a:prstGeom>
          <a:solidFill>
            <a:srgbClr val="3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78824" y="57972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500"/>
                </a:solidFill>
                <a:latin typeface="Calibri"/>
              </a:rPr>
              <a:t>upgrade available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771632" y="1298448"/>
            <a:ext cx="1783080" cy="384048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771632" y="1298448"/>
            <a:ext cx="1783080" cy="50292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63072" y="13350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Calibri"/>
              </a:rPr>
              <a:t>customer-epsilon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000232" y="1783080"/>
            <a:ext cx="1325880" cy="27432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64240" y="18105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896AA"/>
                </a:solidFill>
                <a:latin typeface="Calibri"/>
              </a:rPr>
              <a:t>pinned to v1.0.0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71632" y="2148840"/>
            <a:ext cx="1783080" cy="35204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863072" y="2364485"/>
            <a:ext cx="64008" cy="64008"/>
          </a:xfrm>
          <a:prstGeom prst="ellipse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27664" y="2286000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Legacy — not yet</a:t>
            </a:r>
          </a:p>
        </p:txBody>
      </p:sp>
      <p:sp>
        <p:nvSpPr>
          <p:cNvPr id="73" name="Oval 72"/>
          <p:cNvSpPr/>
          <p:nvPr/>
        </p:nvSpPr>
        <p:spPr>
          <a:xfrm>
            <a:off x="10863072" y="2607562"/>
            <a:ext cx="64008" cy="64008"/>
          </a:xfrm>
          <a:prstGeom prst="ellipse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027664" y="2529077"/>
            <a:ext cx="148132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scheduled for upgrade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71632" y="5760720"/>
            <a:ext cx="1783080" cy="320040"/>
          </a:xfrm>
          <a:prstGeom prst="rect">
            <a:avLst/>
          </a:prstGeom>
          <a:solidFill>
            <a:srgbClr val="3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63072" y="57972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A500"/>
                </a:solidFill>
                <a:latin typeface="Calibri"/>
              </a:rPr>
              <a:t>upgrade 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6AA"/>
                </a:solidFill>
                <a:latin typeface="Calibri"/>
              </a:rPr>
              <a:t>Upgrade any customer at any time by bumping the @tag in their deploy.yml and raising a PR.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Versioning — Conventional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Every merge to main produces a tagged, immutable release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394960" cy="521208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8EFF"/>
                </a:solidFill>
                <a:latin typeface="Calibri"/>
              </a:rPr>
              <a:t>What happens on every merge to main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94398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versioning.yml triggers automatically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227580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30679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Commit messages parsed since last tag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511171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414270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Version bump calculated from commit types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2794762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697861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New tag created  (e.g. v1.3.0)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07835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81452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CHANGELOG.md updated and committed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361944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265043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GitHub Release created with change notes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364553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548634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Tag is immutable — customers pinned to it are frozen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72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D5B8"/>
                </a:solidFill>
                <a:latin typeface="Calibri"/>
              </a:rPr>
              <a:t>What this means for the team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505294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956048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You always know exactly what's deployed per customer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5336540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239639"/>
            <a:ext cx="4773168" cy="283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Rolling back a customer = bump the tag 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234440"/>
            <a:ext cx="5806440" cy="521208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389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D5B8"/>
                </a:solidFill>
                <a:latin typeface="Calibri"/>
              </a:rPr>
              <a:t>Commit prefix  →  version bump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6AA"/>
                </a:solidFill>
                <a:latin typeface="Calibri"/>
              </a:rPr>
              <a:t>Prefix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6AA"/>
                </a:solidFill>
                <a:latin typeface="Calibri"/>
              </a:rPr>
              <a:t>Bump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6AA"/>
                </a:solidFill>
                <a:latin typeface="Calibri"/>
              </a:rPr>
              <a:t>When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6AA"/>
                </a:solidFill>
                <a:latin typeface="Calibri"/>
              </a:rPr>
              <a:t>Prefix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6AA"/>
                </a:solidFill>
                <a:latin typeface="Calibri"/>
              </a:rPr>
              <a:t>Bump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6AA"/>
                </a:solidFill>
                <a:latin typeface="Calibri"/>
              </a:rPr>
              <a:t>When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148839"/>
            <a:ext cx="5577840" cy="18288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2231135"/>
            <a:ext cx="5806440" cy="100584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285999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F"/>
                </a:solidFill>
                <a:latin typeface="Calibri"/>
              </a:rPr>
              <a:t>fix: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285999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D5B8"/>
                </a:solidFill>
                <a:latin typeface="Calibri"/>
              </a:rPr>
              <a:t>Patch  x.x.+1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285999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Bug fixes, small corrections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31927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F"/>
                </a:solidFill>
                <a:latin typeface="Calibri"/>
              </a:rPr>
              <a:t>feat: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31927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F"/>
                </a:solidFill>
                <a:latin typeface="Calibri"/>
              </a:rPr>
              <a:t>Minor  x.+1.0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31927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New backwards-compatible capability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297677"/>
            <a:ext cx="5806440" cy="1005840"/>
          </a:xfrm>
          <a:prstGeom prst="rect">
            <a:avLst/>
          </a:prstGeom>
          <a:solidFill>
            <a:srgbClr val="1E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4352541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F"/>
                </a:solidFill>
                <a:latin typeface="Calibri"/>
              </a:rPr>
              <a:t>feat!:  /  BREAKING CHANGE: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52541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Calibri"/>
              </a:rPr>
              <a:t>Major  +1.0.0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352541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Removes or renames a variable
Consumers must review before upgrading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38581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F"/>
                </a:solidFill>
                <a:latin typeface="Calibri"/>
              </a:rPr>
              <a:t>chore:  /  docs:  /  ci: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38581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96AA"/>
                </a:solidFill>
                <a:latin typeface="Calibri"/>
              </a:rPr>
              <a:t>Patch  x.x.+1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538581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Housekeeping — no functional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Custom Infrastructure Per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Extend without forking — the factory stays clean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1338560" cy="14173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00"/>
                </a:solidFill>
                <a:latin typeface="Calibri"/>
              </a:rPr>
              <a:t>The challenge: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Customer D needs a VPN gateway. Customer E needs a private endpoint for SQL. If we add these to the factory every customer gets them — that's wrong. If we fork the factory we're back to the drift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D5B8"/>
                </a:solidFill>
                <a:latin typeface="Calibri"/>
              </a:rPr>
              <a:t>The solution: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27632"/>
            <a:ext cx="1143000" cy="32004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D5B8"/>
                </a:solidFill>
                <a:latin typeface="Calibri"/>
              </a:rPr>
              <a:t>The solution: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34440"/>
            <a:ext cx="11338560" cy="14173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234440"/>
            <a:ext cx="54864" cy="1417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35331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The challenge:  Customer D needs a VPN gateway. Customer E needs a private SQL endpoint. Adding these to the factory means every customer gets them. Forking brings back the drift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74519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D5B8"/>
                </a:solidFill>
                <a:latin typeface="Calibri"/>
              </a:rPr>
              <a:t>The solution:  Each consumer repo has a  custom/{stage}/  directory. Any .tf files placed there are merged into the factory stage at pipeline runtime — before plan and apply.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34640"/>
            <a:ext cx="3566160" cy="356616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834640"/>
            <a:ext cx="3566160" cy="502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4436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customer-delta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3337560" cy="182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649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500"/>
                </a:solidFill>
                <a:latin typeface="Calibri"/>
              </a:rPr>
              <a:t>custom/application/vpn.tf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781805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703320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resource "azurerm_virtual_network_gateway"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24882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46397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resource "azurerm_public_ip"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267959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189474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resource "azurerm_local_network_gateway"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511036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432551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Uses landing-zone VNet ID from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754113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675628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terraform_remote_state — no duplication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2834640"/>
            <a:ext cx="3566160" cy="356616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33672" y="2834640"/>
            <a:ext cx="3566160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94436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customer-epsilon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291840"/>
            <a:ext cx="3337560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33649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8EFF"/>
                </a:solidFill>
                <a:latin typeface="Calibri"/>
              </a:rPr>
              <a:t>custom/application/private_endpoint.tf</a:t>
            </a:r>
          </a:p>
        </p:txBody>
      </p:sp>
      <p:sp>
        <p:nvSpPr>
          <p:cNvPr id="36" name="Oval 35"/>
          <p:cNvSpPr/>
          <p:nvPr/>
        </p:nvSpPr>
        <p:spPr>
          <a:xfrm>
            <a:off x="4370832" y="378180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3703320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resource "azurerm_private_endpoint"</a:t>
            </a:r>
          </a:p>
        </p:txBody>
      </p:sp>
      <p:sp>
        <p:nvSpPr>
          <p:cNvPr id="38" name="Oval 37"/>
          <p:cNvSpPr/>
          <p:nvPr/>
        </p:nvSpPr>
        <p:spPr>
          <a:xfrm>
            <a:off x="4370832" y="4024882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5424" y="3946397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resource "azurerm_private_dns_zone"</a:t>
            </a:r>
          </a:p>
        </p:txBody>
      </p:sp>
      <p:sp>
        <p:nvSpPr>
          <p:cNvPr id="40" name="Oval 39"/>
          <p:cNvSpPr/>
          <p:nvPr/>
        </p:nvSpPr>
        <p:spPr>
          <a:xfrm>
            <a:off x="4370832" y="426795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5424" y="4189474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resource "azurerm_private_dns_zone_virtual_network_link"</a:t>
            </a:r>
          </a:p>
        </p:txBody>
      </p:sp>
      <p:sp>
        <p:nvSpPr>
          <p:cNvPr id="42" name="Oval 41"/>
          <p:cNvSpPr/>
          <p:nvPr/>
        </p:nvSpPr>
        <p:spPr>
          <a:xfrm>
            <a:off x="4370832" y="4511036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4432551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Connects App Service to SQL over
private network — not in base factory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5864" y="2834640"/>
            <a:ext cx="3566160" cy="356616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55864" y="2834640"/>
            <a:ext cx="3566160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3024" y="294436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customer-zeta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3291840"/>
            <a:ext cx="3337560" cy="18288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336499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D5B8"/>
                </a:solidFill>
                <a:latin typeface="Calibri"/>
              </a:rPr>
              <a:t>custom/landing-zone/extra_subnets.tf</a:t>
            </a:r>
          </a:p>
        </p:txBody>
      </p:sp>
      <p:sp>
        <p:nvSpPr>
          <p:cNvPr id="49" name="Oval 48"/>
          <p:cNvSpPr/>
          <p:nvPr/>
        </p:nvSpPr>
        <p:spPr>
          <a:xfrm>
            <a:off x="8193024" y="3781805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57616" y="3703320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Additional subnet definitions</a:t>
            </a:r>
          </a:p>
        </p:txBody>
      </p:sp>
      <p:sp>
        <p:nvSpPr>
          <p:cNvPr id="51" name="Oval 50"/>
          <p:cNvSpPr/>
          <p:nvPr/>
        </p:nvSpPr>
        <p:spPr>
          <a:xfrm>
            <a:off x="8193024" y="4024882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6" y="3946397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beyond the factory defaults</a:t>
            </a:r>
          </a:p>
        </p:txBody>
      </p:sp>
      <p:sp>
        <p:nvSpPr>
          <p:cNvPr id="53" name="Oval 52"/>
          <p:cNvSpPr/>
          <p:nvPr/>
        </p:nvSpPr>
        <p:spPr>
          <a:xfrm>
            <a:off x="8193024" y="426795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7616" y="4189474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Factory subnets unchanged —</a:t>
            </a:r>
          </a:p>
        </p:txBody>
      </p:sp>
      <p:sp>
        <p:nvSpPr>
          <p:cNvPr id="55" name="Oval 54"/>
          <p:cNvSpPr/>
          <p:nvPr/>
        </p:nvSpPr>
        <p:spPr>
          <a:xfrm>
            <a:off x="8193024" y="4511036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7616" y="4432551"/>
            <a:ext cx="3218688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extra ones added alongside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9224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6AA"/>
                </a:solidFill>
                <a:latin typeface="Calibri"/>
              </a:rPr>
              <a:t>The factory never knows about these files. No PR to the factory needed. The consumer owns the extension.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Pipeline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Runs on every push — apply is always gated behind a human reviewer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89888"/>
            <a:ext cx="2121408" cy="46177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89888"/>
            <a:ext cx="2121408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499616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4996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2505456"/>
            <a:ext cx="1892808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2064" y="270281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624328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Checkout factory at pinned @tag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" y="2945890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67405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Checkout customer repo</a:t>
            </a:r>
          </a:p>
        </p:txBody>
      </p:sp>
      <p:sp>
        <p:nvSpPr>
          <p:cNvPr id="16" name="Oval 15"/>
          <p:cNvSpPr/>
          <p:nvPr/>
        </p:nvSpPr>
        <p:spPr>
          <a:xfrm>
            <a:off x="512064" y="3188967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10482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Parse config.json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" y="3432044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53559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Merge custom/*.tf into stage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" y="3675121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596636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Generate terraform.auto.tfvars.json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" y="3918198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39713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Package workspace 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3515868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96AA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9192" y="1389888"/>
            <a:ext cx="2121408" cy="46177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79192" y="1389888"/>
            <a:ext cx="2121408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88920" y="1499616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4996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7208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Security
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07208" y="2505456"/>
            <a:ext cx="1892808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07208" y="270281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2624328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Checkov runs on full workspace</a:t>
            </a:r>
          </a:p>
        </p:txBody>
      </p:sp>
      <p:sp>
        <p:nvSpPr>
          <p:cNvPr id="33" name="Oval 32"/>
          <p:cNvSpPr/>
          <p:nvPr/>
        </p:nvSpPr>
        <p:spPr>
          <a:xfrm>
            <a:off x="2807208" y="2945890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2867405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SARIF → GitHub Code Scanning</a:t>
            </a:r>
          </a:p>
        </p:txBody>
      </p:sp>
      <p:sp>
        <p:nvSpPr>
          <p:cNvPr id="35" name="Oval 34"/>
          <p:cNvSpPr/>
          <p:nvPr/>
        </p:nvSpPr>
        <p:spPr>
          <a:xfrm>
            <a:off x="2807208" y="3188967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3110482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Hard failure — blocks plan</a:t>
            </a:r>
          </a:p>
        </p:txBody>
      </p:sp>
      <p:sp>
        <p:nvSpPr>
          <p:cNvPr id="37" name="Oval 36"/>
          <p:cNvSpPr/>
          <p:nvPr/>
        </p:nvSpPr>
        <p:spPr>
          <a:xfrm>
            <a:off x="2807208" y="3432044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3353559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Skip checks documented
with justification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888" y="3515868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96AA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74336" y="1389888"/>
            <a:ext cx="2121408" cy="46177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74336" y="1389888"/>
            <a:ext cx="2121408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84064" y="1499616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84064" y="14996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02352" y="2505456"/>
            <a:ext cx="1892808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102352" y="270281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66944" y="2624328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terraform init</a:t>
            </a:r>
          </a:p>
        </p:txBody>
      </p:sp>
      <p:sp>
        <p:nvSpPr>
          <p:cNvPr id="48" name="Oval 47"/>
          <p:cNvSpPr/>
          <p:nvPr/>
        </p:nvSpPr>
        <p:spPr>
          <a:xfrm>
            <a:off x="5102352" y="2945890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66944" y="2867405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terraform plan -detailed-exitcode</a:t>
            </a:r>
          </a:p>
        </p:txBody>
      </p:sp>
      <p:sp>
        <p:nvSpPr>
          <p:cNvPr id="50" name="Oval 49"/>
          <p:cNvSpPr/>
          <p:nvPr/>
        </p:nvSpPr>
        <p:spPr>
          <a:xfrm>
            <a:off x="5102352" y="3188967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66944" y="3110482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Plan posted to job summary</a:t>
            </a:r>
          </a:p>
        </p:txBody>
      </p:sp>
      <p:sp>
        <p:nvSpPr>
          <p:cNvPr id="52" name="Oval 51"/>
          <p:cNvSpPr/>
          <p:nvPr/>
        </p:nvSpPr>
        <p:spPr>
          <a:xfrm>
            <a:off x="5102352" y="3432044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66944" y="3353559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tfplan artifact uploaded</a:t>
            </a:r>
          </a:p>
        </p:txBody>
      </p:sp>
      <p:sp>
        <p:nvSpPr>
          <p:cNvPr id="54" name="Oval 53"/>
          <p:cNvSpPr/>
          <p:nvPr/>
        </p:nvSpPr>
        <p:spPr>
          <a:xfrm>
            <a:off x="5102352" y="3675121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66944" y="3596636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Exit 0 = no changes → skip apply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4032" y="3515868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96AA"/>
                </a:solidFill>
                <a:latin typeface="Calibri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9480" y="1389888"/>
            <a:ext cx="2121408" cy="46177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69480" y="1389888"/>
            <a:ext cx="2121408" cy="5029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79208" y="1499616"/>
            <a:ext cx="329184" cy="329184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79208" y="14996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97496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Approval
Gate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97496" y="2505456"/>
            <a:ext cx="1892808" cy="182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97496" y="2702813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62088" y="2624328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Targets {environment}-apply
GitHub Environment</a:t>
            </a:r>
          </a:p>
        </p:txBody>
      </p:sp>
      <p:sp>
        <p:nvSpPr>
          <p:cNvPr id="65" name="Oval 64"/>
          <p:cNvSpPr/>
          <p:nvPr/>
        </p:nvSpPr>
        <p:spPr>
          <a:xfrm>
            <a:off x="7397496" y="2945890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62088" y="2867405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Configured in consumer repo
settings — no code needed</a:t>
            </a:r>
          </a:p>
        </p:txBody>
      </p:sp>
      <p:sp>
        <p:nvSpPr>
          <p:cNvPr id="67" name="Oval 66"/>
          <p:cNvSpPr/>
          <p:nvPr/>
        </p:nvSpPr>
        <p:spPr>
          <a:xfrm>
            <a:off x="7397496" y="3188967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62088" y="3110482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Required reviewers enforced</a:t>
            </a:r>
          </a:p>
        </p:txBody>
      </p:sp>
      <p:sp>
        <p:nvSpPr>
          <p:cNvPr id="69" name="Oval 68"/>
          <p:cNvSpPr/>
          <p:nvPr/>
        </p:nvSpPr>
        <p:spPr>
          <a:xfrm>
            <a:off x="7397496" y="3432044"/>
            <a:ext cx="64008" cy="640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62088" y="3353559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Skipped if plan = no changes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09176" y="3515868"/>
            <a:ext cx="155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96AA"/>
                </a:solidFill>
                <a:latin typeface="Calibr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64624" y="1389888"/>
            <a:ext cx="2121408" cy="461772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64624" y="1389888"/>
            <a:ext cx="2121408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4352" y="1499616"/>
            <a:ext cx="329184" cy="329184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74352" y="149961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2640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Apply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92640" y="2505456"/>
            <a:ext cx="1892808" cy="18288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2640" y="2702813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57232" y="2624328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Downloads workspace artifact</a:t>
            </a:r>
          </a:p>
        </p:txBody>
      </p:sp>
      <p:sp>
        <p:nvSpPr>
          <p:cNvPr id="80" name="Oval 79"/>
          <p:cNvSpPr/>
          <p:nvPr/>
        </p:nvSpPr>
        <p:spPr>
          <a:xfrm>
            <a:off x="9692640" y="2945890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57232" y="2867405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Downloads tfplan artifact</a:t>
            </a:r>
          </a:p>
        </p:txBody>
      </p:sp>
      <p:sp>
        <p:nvSpPr>
          <p:cNvPr id="82" name="Oval 81"/>
          <p:cNvSpPr/>
          <p:nvPr/>
        </p:nvSpPr>
        <p:spPr>
          <a:xfrm>
            <a:off x="9692640" y="3188967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57232" y="3110482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terraform apply tfplan</a:t>
            </a:r>
          </a:p>
        </p:txBody>
      </p:sp>
      <p:sp>
        <p:nvSpPr>
          <p:cNvPr id="84" name="Oval 83"/>
          <p:cNvSpPr/>
          <p:nvPr/>
        </p:nvSpPr>
        <p:spPr>
          <a:xfrm>
            <a:off x="9692640" y="3432044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57232" y="3353559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Only runs after approval</a:t>
            </a:r>
          </a:p>
        </p:txBody>
      </p:sp>
      <p:sp>
        <p:nvSpPr>
          <p:cNvPr id="86" name="Oval 85"/>
          <p:cNvSpPr/>
          <p:nvPr/>
        </p:nvSpPr>
        <p:spPr>
          <a:xfrm>
            <a:off x="9692640" y="3675121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57232" y="3596636"/>
            <a:ext cx="1773936" cy="24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8"/>
                </a:solidFill>
                <a:latin typeface="Calibri"/>
              </a:rPr>
              <a:t>tfplan retained 7 days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048" y="6144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6AA"/>
                </a:solidFill>
                <a:latin typeface="Calibri"/>
              </a:rPr>
              <a:t>Landing zone and application stages each run through this full flow independently. State is shared via terraform_remote_state.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Choices made intentionally —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3675887" cy="2267712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3675887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419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SQL password never in 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92224"/>
            <a:ext cx="3419855" cy="18288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1989645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01952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random_password generates it at plan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297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65286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Stored in Key Vault — never in tfvars,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516313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428620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logs, or state in plaintext.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399" y="1261872"/>
            <a:ext cx="3675887" cy="2267712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399" y="1261872"/>
            <a:ext cx="3675887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371600"/>
            <a:ext cx="3419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Key Vault network action is variable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792224"/>
            <a:ext cx="3419855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59" y="1989645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1901952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Defaults to Allow for GitHub-hosted runners.</a:t>
            </a:r>
          </a:p>
        </p:txBody>
      </p:sp>
      <p:sp>
        <p:nvSpPr>
          <p:cNvPr id="22" name="Oval 21"/>
          <p:cNvSpPr/>
          <p:nvPr/>
        </p:nvSpPr>
        <p:spPr>
          <a:xfrm>
            <a:off x="4480559" y="225297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1" y="2165286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Set to Deny + VNet runner for production.</a:t>
            </a:r>
          </a:p>
        </p:txBody>
      </p:sp>
      <p:sp>
        <p:nvSpPr>
          <p:cNvPr id="24" name="Oval 23"/>
          <p:cNvSpPr/>
          <p:nvPr/>
        </p:nvSpPr>
        <p:spPr>
          <a:xfrm>
            <a:off x="4480559" y="251631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1" y="2428620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Checkov skip documented with reason.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8" y="1261872"/>
            <a:ext cx="3675887" cy="2267712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8" y="1261872"/>
            <a:ext cx="3675887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8" y="1371600"/>
            <a:ext cx="3419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Cross-stage state via remote_state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78" y="1792224"/>
            <a:ext cx="3419855" cy="18288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78" y="1989645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0" y="1901952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Application reads landing-zone outputs via</a:t>
            </a:r>
          </a:p>
        </p:txBody>
      </p:sp>
      <p:sp>
        <p:nvSpPr>
          <p:cNvPr id="32" name="Oval 31"/>
          <p:cNvSpPr/>
          <p:nvPr/>
        </p:nvSpPr>
        <p:spPr>
          <a:xfrm>
            <a:off x="8412478" y="225297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7070" y="2165286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terraform_remote_state. No manual ID copying.</a:t>
            </a:r>
          </a:p>
        </p:txBody>
      </p:sp>
      <p:sp>
        <p:nvSpPr>
          <p:cNvPr id="34" name="Oval 33"/>
          <p:cNvSpPr/>
          <p:nvPr/>
        </p:nvSpPr>
        <p:spPr>
          <a:xfrm>
            <a:off x="8412478" y="2516313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7070" y="2428620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Backend fields injected at pipeline runtime.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94176"/>
            <a:ext cx="3675887" cy="2267712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694176"/>
            <a:ext cx="3675887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803904"/>
            <a:ext cx="3419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Single reusable workflow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3419855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8640" y="442194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334256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One reusable-terraform.yml handles both stages.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468528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597590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Differentiated by stage_name input.</a:t>
            </a:r>
          </a:p>
        </p:txBody>
      </p:sp>
      <p:sp>
        <p:nvSpPr>
          <p:cNvPr id="44" name="Oval 43"/>
          <p:cNvSpPr/>
          <p:nvPr/>
        </p:nvSpPr>
        <p:spPr>
          <a:xfrm>
            <a:off x="548640" y="4948617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860924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Consumers call it — they never maintain it.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399" y="3694176"/>
            <a:ext cx="3675887" cy="2267712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3399" y="3694176"/>
            <a:ext cx="3675887" cy="50292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59" y="3803904"/>
            <a:ext cx="3419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Derived resource naming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59" y="4224528"/>
            <a:ext cx="3419855" cy="18288"/>
          </a:xfrm>
          <a:prstGeom prst="rect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80559" y="4421949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45151" y="4334256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All names follow {prefix}-{workload}-{env}-{location}.</a:t>
            </a:r>
          </a:p>
        </p:txBody>
      </p:sp>
      <p:sp>
        <p:nvSpPr>
          <p:cNvPr id="52" name="Oval 51"/>
          <p:cNvSpPr/>
          <p:nvPr/>
        </p:nvSpPr>
        <p:spPr>
          <a:xfrm>
            <a:off x="4480559" y="4685283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45151" y="4597590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Consumers supply 4 values — factory derives the rest.</a:t>
            </a:r>
          </a:p>
        </p:txBody>
      </p:sp>
      <p:sp>
        <p:nvSpPr>
          <p:cNvPr id="54" name="Oval 53"/>
          <p:cNvSpPr/>
          <p:nvPr/>
        </p:nvSpPr>
        <p:spPr>
          <a:xfrm>
            <a:off x="4480559" y="4948617"/>
            <a:ext cx="64008" cy="64008"/>
          </a:xfrm>
          <a:prstGeom prst="ellipse">
            <a:avLst/>
          </a:prstGeom>
          <a:solidFill>
            <a:srgbClr val="6BD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45151" y="4860924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No naming drift, no manual renaming across customers.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8" y="3694176"/>
            <a:ext cx="3675887" cy="2267712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18" y="3694176"/>
            <a:ext cx="3675887" cy="5029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78" y="3803904"/>
            <a:ext cx="3419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Consumer tfvars tracked in git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78" y="4224528"/>
            <a:ext cx="3419855" cy="182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12478" y="4421949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0" y="4334256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.gitignore explicitly un-ignores consumer-example</a:t>
            </a:r>
          </a:p>
        </p:txBody>
      </p:sp>
      <p:sp>
        <p:nvSpPr>
          <p:cNvPr id="62" name="Oval 61"/>
          <p:cNvSpPr/>
          <p:nvPr/>
        </p:nvSpPr>
        <p:spPr>
          <a:xfrm>
            <a:off x="8412478" y="4685283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77070" y="4597590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tfvars so the reference is version-controlled.</a:t>
            </a:r>
          </a:p>
        </p:txBody>
      </p:sp>
      <p:sp>
        <p:nvSpPr>
          <p:cNvPr id="64" name="Oval 63"/>
          <p:cNvSpPr/>
          <p:nvPr/>
        </p:nvSpPr>
        <p:spPr>
          <a:xfrm>
            <a:off x="8412478" y="4948617"/>
            <a:ext cx="64008" cy="6400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77070" y="4860924"/>
            <a:ext cx="3310127" cy="26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No sensitive values ever — secrets use Key Vault.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Onboarding a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D5B8"/>
                </a:solidFill>
                <a:latin typeface="Calibri"/>
              </a:rPr>
              <a:t>From zero to deployed in under an hour — no Terraform knowledge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" y="129844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46304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63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5331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Create a GitHub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New repo for the customer. No fork, no clone of the factory.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7568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" y="207568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208" y="224028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2402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3055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Copy config.json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2316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Set workload, environment, location, location_short.
All resource names derive automatically from these 4 values.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85292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" y="285292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301752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0175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90779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Copy deploy.yml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20040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Pin both @tag references to the latest factory release.
Replace org/terraform-factory with the actual repo path.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3016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" y="363016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379476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3794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68503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Create Azure state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97764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Storage account + container for Terraform remote state.
Fill in config.backend in config.json.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29844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64224" y="129844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146304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463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35331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Create Service Principal with OIDC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64592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Add AZURE_CLIENT_ID, AZURE_TENANT_ID,
AZURE_SUBSCRIPTION_ID as GitHub secrets.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07568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64224" y="207568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19088" y="224028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2402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13055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Create GitHub Environments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42316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dev-apply, staging-apply, prod-apply.
Add required reviewers on staging and prod.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85292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64224" y="285292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19088" y="301752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301752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90779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Add custom infra (if needed)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040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Drop .tf files into custom/landing-zone/ or
custom/application/ — merged in at pipeline runtime.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630168"/>
            <a:ext cx="54864" cy="685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64224" y="3630168"/>
            <a:ext cx="5065776" cy="685800"/>
          </a:xfrm>
          <a:prstGeom prst="rect">
            <a:avLst/>
          </a:prstGeom>
          <a:solidFill>
            <a:srgbClr val="2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19088" y="3794760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379476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685032"/>
            <a:ext cx="4498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Push to main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97764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6AA"/>
                </a:solidFill>
                <a:latin typeface="Calibri"/>
              </a:rPr>
              <a:t>Factory handles everything else.
Monitor the run in GitHub Actions.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49224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6AA"/>
                </a:solidFill>
                <a:latin typeface="Calibri"/>
              </a:rPr>
              <a:t>To upgrade an existing customer: bump the @tag in deploy.yml, open a PR, get it reviewed, merge. The pipeline handles the 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